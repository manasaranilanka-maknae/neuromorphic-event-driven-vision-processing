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4" r:id="rId1"/>
  </p:sldMasterIdLst>
  <p:notesMasterIdLst>
    <p:notesMasterId r:id="rId21"/>
  </p:notesMasterIdLst>
  <p:handoutMasterIdLst>
    <p:handoutMasterId r:id="rId22"/>
  </p:handoutMasterIdLst>
  <p:sldIdLst>
    <p:sldId id="257" r:id="rId2"/>
    <p:sldId id="260" r:id="rId3"/>
    <p:sldId id="277" r:id="rId4"/>
    <p:sldId id="292" r:id="rId5"/>
    <p:sldId id="293" r:id="rId6"/>
    <p:sldId id="279" r:id="rId7"/>
    <p:sldId id="283" r:id="rId8"/>
    <p:sldId id="281" r:id="rId9"/>
    <p:sldId id="285" r:id="rId10"/>
    <p:sldId id="287" r:id="rId11"/>
    <p:sldId id="259" r:id="rId12"/>
    <p:sldId id="261" r:id="rId13"/>
    <p:sldId id="263" r:id="rId14"/>
    <p:sldId id="264" r:id="rId15"/>
    <p:sldId id="265" r:id="rId16"/>
    <p:sldId id="266" r:id="rId17"/>
    <p:sldId id="268" r:id="rId18"/>
    <p:sldId id="269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3" autoAdjust="0"/>
    <p:restoredTop sz="94660"/>
  </p:normalViewPr>
  <p:slideViewPr>
    <p:cSldViewPr snapToGrid="0">
      <p:cViewPr varScale="1">
        <p:scale>
          <a:sx n="59" d="100"/>
          <a:sy n="59" d="100"/>
        </p:scale>
        <p:origin x="80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Project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C45B8-FFEF-47E0-856E-066BCE2DBB1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BA59A-78E1-415B-A748-A9A0D40082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844039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Project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0634A6-5DB6-4C30-B47C-22CC0195BCDE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923F9-A8F2-432B-9BDF-4193DE246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6716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923F9-A8F2-432B-9BDF-4193DE246620}" type="slidenum">
              <a:rPr lang="en-IN" smtClean="0"/>
              <a:t>2</a:t>
            </a:fld>
            <a:endParaRPr lang="en-IN" dirty="0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2834627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/>
              <a:t>Project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7923F9-A8F2-432B-9BDF-4193DE24662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552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923F9-A8F2-432B-9BDF-4193DE246620}" type="slidenum">
              <a:rPr lang="en-IN" smtClean="0"/>
              <a:t>12</a:t>
            </a:fld>
            <a:endParaRPr lang="en-IN" dirty="0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2914701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923F9-A8F2-432B-9BDF-4193DE246620}" type="slidenum">
              <a:rPr lang="en-IN" smtClean="0"/>
              <a:t>16</a:t>
            </a:fld>
            <a:endParaRPr lang="en-IN" dirty="0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 dirty="0"/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2796650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/>
              <a:t>Project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7923F9-A8F2-432B-9BDF-4193DE246620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501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1983-6996-48E5-9AFD-1439DF03BAA3}" type="datetime1">
              <a:rPr lang="en-US" smtClean="0"/>
              <a:t>7/7/2026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15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E48-41C2-47BF-A2FE-F63CC6DE1A46}" type="datetime1">
              <a:rPr lang="en-US" smtClean="0"/>
              <a:t>7/7/2026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64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A9CF-EFAF-4474-B6B3-B01A2B3AD3C6}" type="datetime1">
              <a:rPr lang="en-US" smtClean="0"/>
              <a:t>7/7/2026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40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B709C-3628-46C3-BD52-155BD23B7CF2}" type="datetime1">
              <a:rPr lang="en-US" smtClean="0"/>
              <a:t>7/7/2026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54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47EC-B744-4A3F-A952-145EA014A132}" type="datetime1">
              <a:rPr lang="en-US" smtClean="0"/>
              <a:t>7/7/2026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52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783B-F373-4C18-B482-BF158EB8784F}" type="datetime1">
              <a:rPr lang="en-US" smtClean="0"/>
              <a:t>7/7/2026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24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DD8-487A-4AF9-849F-3E01F2C1BBD3}" type="datetime1">
              <a:rPr lang="en-US" smtClean="0"/>
              <a:t>7/7/2026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79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5287-493C-4894-B983-859FB00E311B}" type="datetime1">
              <a:rPr lang="en-US" smtClean="0"/>
              <a:t>7/7/2026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91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A0B32-11D0-4209-A5C1-F190228C1BD3}" type="datetime1">
              <a:rPr lang="en-US" smtClean="0"/>
              <a:t>7/7/2026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74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5379-E34D-4AD6-A059-E09E2E352F2A}" type="datetime1">
              <a:rPr lang="en-US" smtClean="0"/>
              <a:t>7/7/2026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67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33B1-5828-4DD7-8F98-4A6051B92646}" type="datetime1">
              <a:rPr lang="en-US" smtClean="0"/>
              <a:t>7/7/2026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78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A691A-4BBD-49F5-809E-2E2DED5C33A0}" type="datetime1">
              <a:rPr lang="en-US" smtClean="0"/>
              <a:t>7/7/2026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900FE-EBC9-4C33-96A7-E349BD825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74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99" y="165696"/>
            <a:ext cx="10515600" cy="73928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2060"/>
                </a:solidFill>
                <a:cs typeface="Times New Roman" panose="02020603050405020304" pitchFamily="18" charset="0"/>
              </a:rPr>
              <a:t>Aim: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6FE17-2EB4-4CB5-89C7-CC7BFA12E94F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1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EDFC7E-0196-EAA9-417A-9423A4136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2" y="834532"/>
            <a:ext cx="11642767" cy="561706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real-time, event-driven vision system that efficiently detects and tracks moving objects by processing only pixel-level changes, mimicking neuromorphic sensors, thereby reducing computational load and latency compared to conventional frame-based vision systems.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588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049" y="216808"/>
            <a:ext cx="10515600" cy="715530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Problem statement: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AD0E-F4BB-47AB-B185-353D3F833408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2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5CAC32-2F5F-37F1-7158-E85B253C6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06" y="932338"/>
            <a:ext cx="11749645" cy="5424012"/>
          </a:xfrm>
        </p:spPr>
        <p:txBody>
          <a:bodyPr/>
          <a:lstStyle/>
          <a:p>
            <a:pPr>
              <a:defRPr sz="20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frame-based vision systems continuously process entire image frames, resulting in high computational cost, increased latency, and redundant data processing.</a:t>
            </a:r>
          </a:p>
          <a:p>
            <a:pPr marL="0" indent="0">
              <a:buNone/>
              <a:defRPr sz="2000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an efficient event-driven vision system that processes only significant pixel-level changes to enable faster and real-time motion detection.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726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39280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Literature survey 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085E3-A433-489E-BFD7-4A7DEBAD0AA1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3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 dirty="0">
                <a:solidFill>
                  <a:schemeClr val="tx2"/>
                </a:solidFill>
              </a:rPr>
              <a:t>Dept. of ECE                        Name of </a:t>
            </a:r>
            <a:r>
              <a:rPr lang="en-IN" b="1" dirty="0" err="1">
                <a:solidFill>
                  <a:schemeClr val="tx2"/>
                </a:solidFill>
              </a:rPr>
              <a:t>spl</a:t>
            </a:r>
            <a:r>
              <a:rPr lang="en-IN" b="1" dirty="0">
                <a:solidFill>
                  <a:schemeClr val="tx2"/>
                </a:solidFill>
              </a:rPr>
              <a:t> lab                                      BVRIT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EF4E3B-F4B3-AB72-7A1D-136EBDB28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469276"/>
              </p:ext>
            </p:extLst>
          </p:nvPr>
        </p:nvGraphicFramePr>
        <p:xfrm>
          <a:off x="327277" y="777240"/>
          <a:ext cx="112593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1860">
                  <a:extLst>
                    <a:ext uri="{9D8B030D-6E8A-4147-A177-3AD203B41FA5}">
                      <a16:colId xmlns:a16="http://schemas.microsoft.com/office/drawing/2014/main" val="813959864"/>
                    </a:ext>
                  </a:extLst>
                </a:gridCol>
                <a:gridCol w="2251860">
                  <a:extLst>
                    <a:ext uri="{9D8B030D-6E8A-4147-A177-3AD203B41FA5}">
                      <a16:colId xmlns:a16="http://schemas.microsoft.com/office/drawing/2014/main" val="3513916928"/>
                    </a:ext>
                  </a:extLst>
                </a:gridCol>
                <a:gridCol w="2251860">
                  <a:extLst>
                    <a:ext uri="{9D8B030D-6E8A-4147-A177-3AD203B41FA5}">
                      <a16:colId xmlns:a16="http://schemas.microsoft.com/office/drawing/2014/main" val="2253899841"/>
                    </a:ext>
                  </a:extLst>
                </a:gridCol>
                <a:gridCol w="2251860">
                  <a:extLst>
                    <a:ext uri="{9D8B030D-6E8A-4147-A177-3AD203B41FA5}">
                      <a16:colId xmlns:a16="http://schemas.microsoft.com/office/drawing/2014/main" val="1677066987"/>
                    </a:ext>
                  </a:extLst>
                </a:gridCol>
                <a:gridCol w="2251860">
                  <a:extLst>
                    <a:ext uri="{9D8B030D-6E8A-4147-A177-3AD203B41FA5}">
                      <a16:colId xmlns:a16="http://schemas.microsoft.com/office/drawing/2014/main" val="3002410200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r>
                        <a:rPr lang="en-US" dirty="0"/>
                        <a:t>Sl.no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of the project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 of publication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Existing design 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322117"/>
                  </a:ext>
                </a:extLst>
              </a:tr>
              <a:tr h="161569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Retinomorphic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Event-Based Vision Sensors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Spiking pixel sensors, asynchronous event generation, neuromorphic camera design.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mainly on hardware, minimal algorithmic processing.</a:t>
                      </a:r>
                      <a:endParaRPr lang="en-IN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179464"/>
                  </a:ext>
                </a:extLst>
              </a:tr>
              <a:tr h="136058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240×180 Spatiotemporal Vision Sensor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High-resolution event camera, global shutter, microsecond latency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hardware cost; requires specialized setup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713242"/>
                  </a:ext>
                </a:extLst>
              </a:tr>
              <a:tr h="136058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Visual-Inertial Odometry for Event Cameras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 camera + IMU, keyframe-based optimization, real-time motion tracking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sensor fusion and calibration needed.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164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299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5FE4-1392-915D-C4D8-86D6542010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" y="6356349"/>
            <a:ext cx="2743200" cy="365125"/>
          </a:xfrm>
        </p:spPr>
        <p:txBody>
          <a:bodyPr/>
          <a:lstStyle/>
          <a:p>
            <a:fld id="{40A00E48-41C2-47BF-A2FE-F63CC6DE1A46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A4CBA-3344-85F6-5E3F-9E058E5F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0" y="6482218"/>
            <a:ext cx="4114800" cy="239256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Dept. of ECE                        Name of </a:t>
            </a:r>
            <a:r>
              <a:rPr lang="en-IN" dirty="0" err="1">
                <a:solidFill>
                  <a:srgbClr val="002060"/>
                </a:solidFill>
              </a:rPr>
              <a:t>spl</a:t>
            </a:r>
            <a:r>
              <a:rPr lang="en-IN" dirty="0">
                <a:solidFill>
                  <a:srgbClr val="002060"/>
                </a:solidFill>
              </a:rPr>
              <a:t> lab                                      BVRIT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BA4F2-24BB-8F24-507C-FB389B65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4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3321E1-E86C-B24B-0DB3-11F080CE8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375782"/>
            <a:ext cx="11234737" cy="580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75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C0A9D3F-3986-3748-6AD7-663DF64D8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277"/>
          <a:stretch>
            <a:fillRect/>
          </a:stretch>
        </p:blipFill>
        <p:spPr>
          <a:xfrm>
            <a:off x="413359" y="388307"/>
            <a:ext cx="11348581" cy="574944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4B9AD-B7B9-4DDB-2494-764B0F8D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E48-41C2-47BF-A2FE-F63CC6DE1A46}" type="datetime1">
              <a:rPr lang="en-US" smtClean="0"/>
              <a:t>7/7/2026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59841-4EE5-E752-3DEB-0F0DE491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                        Name of spl lab                                      BVRIT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6603B-184D-AA55-757E-BDAE1848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071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39280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Existing design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B929-1E14-4FB9-82BD-32F988251802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6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4A3AEF2-2713-FD11-E4DF-D7BA12292B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9070" y="333333"/>
            <a:ext cx="872109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Frame-by-frame image processing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Continuous pixel processing regardless of motion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full-frame storage and analysis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computational load and memory usage </a:t>
            </a:r>
          </a:p>
        </p:txBody>
      </p:sp>
    </p:spTree>
    <p:extLst>
      <p:ext uri="{BB962C8B-B14F-4D97-AF65-F5344CB8AC3E}">
        <p14:creationId xmlns:p14="http://schemas.microsoft.com/office/powerpoint/2010/main" val="714060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39280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Existing design-limitations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807" y="739280"/>
            <a:ext cx="11642767" cy="561706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 due to full-frame processing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data processing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memory consumption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real-time applications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for low-power systems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82F9-E854-45BF-8382-538486008B7B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7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80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39280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Proposed design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807" y="739280"/>
            <a:ext cx="11642767" cy="561706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processing using pixel-level changes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differencing for motion detection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 to generate events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Contour detection for identifying moving objects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 with bounding boxes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1DAF-DFC8-4C1A-8E28-C1AA859C4F14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8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611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39280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Innovation in proposed design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807" y="739280"/>
            <a:ext cx="11642767" cy="561706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Event-based motion representation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Pixel-level analysis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non-AI approach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sensitivity control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standard hardware without special sensors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9FE1D-D154-4D69-A5CA-3AD5F27E3FA3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9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286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83" y="0"/>
            <a:ext cx="10515600" cy="59677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Methodology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682" y="685594"/>
            <a:ext cx="11737769" cy="533519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video using webcam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frames to grayscale 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frame differencing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thresholding to detect events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contours for motion regions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bounding boxes around moving objects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real-time output</a:t>
            </a:r>
          </a:p>
          <a:p>
            <a:pPr marL="514350" indent="-514350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5021B-C72E-48C3-B28D-B0E200A36A33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10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103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374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057" y="638093"/>
            <a:ext cx="11535887" cy="514519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 implement a software-simulated event-based vision system that detects meaningful pixel-level changes instead of processing full image frames.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motion in real-time using both white-on-black event        representation and overlay on the original-colored frame with bounding boxes highlighting moving regions.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3.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efficiency of event-driven processing in reducing   computational load, latency, and memory usage compared to conventional frame-based vision systems</a:t>
            </a:r>
            <a:r>
              <a:rPr lang="en-US" sz="1000" dirty="0"/>
              <a:t>.</a:t>
            </a:r>
            <a:endParaRPr lang="en-IN" sz="1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C6C7-EC61-473D-881C-77391E9ED2E1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11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 dirty="0">
                <a:solidFill>
                  <a:schemeClr val="tx2"/>
                </a:solidFill>
              </a:rPr>
              <a:t>Dept. of ECE                        Name of </a:t>
            </a:r>
            <a:r>
              <a:rPr lang="en-IN" b="1" dirty="0" err="1">
                <a:solidFill>
                  <a:schemeClr val="tx2"/>
                </a:solidFill>
              </a:rPr>
              <a:t>spl</a:t>
            </a:r>
            <a:r>
              <a:rPr lang="en-IN" b="1" dirty="0">
                <a:solidFill>
                  <a:schemeClr val="tx2"/>
                </a:solidFill>
              </a:rPr>
              <a:t> lab                                      BVRIT </a:t>
            </a:r>
          </a:p>
        </p:txBody>
      </p:sp>
    </p:spTree>
    <p:extLst>
      <p:ext uri="{BB962C8B-B14F-4D97-AF65-F5344CB8AC3E}">
        <p14:creationId xmlns:p14="http://schemas.microsoft.com/office/powerpoint/2010/main" val="2224292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677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807" y="733095"/>
            <a:ext cx="11690268" cy="53351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0C42-D600-48A3-9C86-32CDD86C2D1B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12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66346-70D0-7CE9-C3A7-F7BA1FB3F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005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83" y="0"/>
            <a:ext cx="10515600" cy="59677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Flow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2CC0B-84FF-4154-8BC5-EB1C5BBA4095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13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E8A1E58F-CC65-FFBB-F542-2E1661E46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240" y="136526"/>
            <a:ext cx="5059680" cy="621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70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270673" cy="61751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Design - implementation &amp; technical innovations: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EDFD-8173-40C2-B951-E7BCB918680F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14</a:t>
            </a:fld>
            <a:endParaRPr lang="en-IN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E6898FB-E543-A32D-F82E-B1161ED65E42}"/>
              </a:ext>
            </a:extLst>
          </p:cNvPr>
          <p:cNvSpPr txBox="1">
            <a:spLocks/>
          </p:cNvSpPr>
          <p:nvPr/>
        </p:nvSpPr>
        <p:spPr>
          <a:xfrm>
            <a:off x="508000" y="1825625"/>
            <a:ext cx="5511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b="1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0E8081A-9AD4-806C-E7A2-C97DD21446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8000" y="948462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 differencing for motion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event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Dual-frame buffering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DA1025BF-1EFE-7701-5E00-19EFEEFFE3CF}"/>
              </a:ext>
            </a:extLst>
          </p:cNvPr>
          <p:cNvSpPr txBox="1">
            <a:spLocks/>
          </p:cNvSpPr>
          <p:nvPr/>
        </p:nvSpPr>
        <p:spPr>
          <a:xfrm>
            <a:off x="6010671" y="1825625"/>
            <a:ext cx="5343129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Innovations:</a:t>
            </a:r>
          </a:p>
          <a:p>
            <a:endParaRPr lang="en-IN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A859696-AB99-71E0-3B02-E569EB300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016136"/>
            <a:ext cx="549862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motion representation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Pixel-level temporal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non-AI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sensitivity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execution on standard hardware</a:t>
            </a:r>
          </a:p>
        </p:txBody>
      </p:sp>
    </p:spTree>
    <p:extLst>
      <p:ext uri="{BB962C8B-B14F-4D97-AF65-F5344CB8AC3E}">
        <p14:creationId xmlns:p14="http://schemas.microsoft.com/office/powerpoint/2010/main" val="2881063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03654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Objective-1:Results and Outcomes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46BE7-DB6B-4E66-8D6D-C0E94CA4F293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15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D26E52-4D5D-994D-44FD-234077F8855B}"/>
              </a:ext>
            </a:extLst>
          </p:cNvPr>
          <p:cNvSpPr txBox="1">
            <a:spLocks/>
          </p:cNvSpPr>
          <p:nvPr/>
        </p:nvSpPr>
        <p:spPr>
          <a:xfrm>
            <a:off x="335873" y="761402"/>
            <a:ext cx="11761520" cy="5335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regions clearly visualized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computational load compared to full-frame processing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monitoring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3D1050-34A2-B409-CE65-9E8391026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00" y="851847"/>
            <a:ext cx="3888976" cy="2932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2FC3DB-DB51-1476-AFB3-166EE1767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160" y="851847"/>
            <a:ext cx="4550880" cy="293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93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90649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Objective-2: Results and Outcomes: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BFAA-C2B6-4E4D-A3D4-80FF2124F0AE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16</a:t>
            </a:fld>
            <a:endParaRPr lang="en-IN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6322" y="6356349"/>
            <a:ext cx="7528955" cy="365125"/>
          </a:xfrm>
        </p:spPr>
        <p:txBody>
          <a:bodyPr/>
          <a:lstStyle/>
          <a:p>
            <a:r>
              <a:rPr lang="en-IN" b="1">
                <a:solidFill>
                  <a:schemeClr val="tx2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989C357-5566-47DB-DECB-64BF07FA9B91}"/>
              </a:ext>
            </a:extLst>
          </p:cNvPr>
          <p:cNvSpPr txBox="1">
            <a:spLocks/>
          </p:cNvSpPr>
          <p:nvPr/>
        </p:nvSpPr>
        <p:spPr>
          <a:xfrm>
            <a:off x="244433" y="851848"/>
            <a:ext cx="11761520" cy="5335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using live webcam feed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maintained performance at 15-30 FPS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dual-frame memory usage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event generation with minimal noise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continuous motion tracking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against minor illumination changes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threshold improves detection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accuracy.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01362B-4877-02AC-92D3-6A234E746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" t="17320" r="50000" b="16848"/>
          <a:stretch>
            <a:fillRect/>
          </a:stretch>
        </p:blipFill>
        <p:spPr>
          <a:xfrm>
            <a:off x="7131554" y="876454"/>
            <a:ext cx="4816013" cy="26429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0084A6-8A50-2249-FB11-95606BAC02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062" t="37058" b="17807"/>
          <a:stretch>
            <a:fillRect/>
          </a:stretch>
        </p:blipFill>
        <p:spPr>
          <a:xfrm>
            <a:off x="7131554" y="3531749"/>
            <a:ext cx="4816013" cy="264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14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8989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Objective-3: Results and Outcomes: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F33B-7BBA-4AC4-A9F2-B4FFA569BA7A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5948549" cy="365125"/>
          </a:xfrm>
        </p:spPr>
        <p:txBody>
          <a:bodyPr/>
          <a:lstStyle/>
          <a:p>
            <a:r>
              <a:rPr lang="en-IN" b="1">
                <a:solidFill>
                  <a:srgbClr val="002060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17</a:t>
            </a:fld>
            <a:endParaRPr lang="en-IN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66AE3E5-3D87-8A96-1575-D42449DC2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489898"/>
            <a:ext cx="10515600" cy="586645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to multiple video sources for broader motion monitoring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integrate with real-time alert/notification systems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for robotics and autonomous vehicle motion tracking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foundation for intelligent, event-driven surveillance systems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Adaptable for real-time software platforms(desktop or edge devices)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Extensible for future neuromorphic vision application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F3DE18-51C5-DDFC-B146-D86C3EF5B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408" y="3834452"/>
            <a:ext cx="80962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9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802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Comparative analysis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E9E8-5C12-4668-A73C-191E4F13B8F2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5497287" cy="365125"/>
          </a:xfrm>
        </p:spPr>
        <p:txBody>
          <a:bodyPr/>
          <a:lstStyle/>
          <a:p>
            <a:r>
              <a:rPr lang="en-IN" b="1">
                <a:solidFill>
                  <a:srgbClr val="002060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18</a:t>
            </a:fld>
            <a:endParaRPr lang="en-IN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4BF407C-3691-041F-B3E6-5CDA4CC3FD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5634804"/>
              </p:ext>
            </p:extLst>
          </p:nvPr>
        </p:nvGraphicFramePr>
        <p:xfrm>
          <a:off x="838200" y="1287149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9313036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0005079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77664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System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276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frame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Event-based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09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471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379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Efficiency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198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102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554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802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Conclusion-future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683" y="1003588"/>
            <a:ext cx="5875317" cy="53527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dirty="0"/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event-driven vision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computation and latency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motion detection achieved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798E-96F1-4949-BBE9-5560957EAC64}" type="datetime1">
              <a:rPr lang="en-US" b="1" smtClean="0">
                <a:solidFill>
                  <a:srgbClr val="002060"/>
                </a:solidFill>
              </a:rPr>
              <a:t>7/7/2026</a:t>
            </a:fld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5497287" cy="365125"/>
          </a:xfrm>
        </p:spPr>
        <p:txBody>
          <a:bodyPr/>
          <a:lstStyle/>
          <a:p>
            <a:r>
              <a:rPr lang="en-IN" b="1">
                <a:solidFill>
                  <a:srgbClr val="002060"/>
                </a:solidFill>
              </a:rPr>
              <a:t>Dept. of ECE                        Name of spl lab                                      BVRIT 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00FE-EBC9-4C33-96A7-E349BD82539D}" type="slidenum">
              <a:rPr lang="en-IN" smtClean="0"/>
              <a:t>19</a:t>
            </a:fld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8842C7F-D6C4-42D9-80F6-12BAAEF42133}"/>
              </a:ext>
            </a:extLst>
          </p:cNvPr>
          <p:cNvSpPr txBox="1">
            <a:spLocks/>
          </p:cNvSpPr>
          <p:nvPr/>
        </p:nvSpPr>
        <p:spPr>
          <a:xfrm>
            <a:off x="6096000" y="1003588"/>
            <a:ext cx="5875317" cy="535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Multi-camera support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improvements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alert systems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object classification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implementation using neuromorphic sensors</a:t>
            </a:r>
          </a:p>
        </p:txBody>
      </p:sp>
    </p:spTree>
    <p:extLst>
      <p:ext uri="{BB962C8B-B14F-4D97-AF65-F5344CB8AC3E}">
        <p14:creationId xmlns:p14="http://schemas.microsoft.com/office/powerpoint/2010/main" val="3757508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849</Words>
  <Application>Microsoft Office PowerPoint</Application>
  <PresentationFormat>Widescreen</PresentationFormat>
  <Paragraphs>206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Aim:</vt:lpstr>
      <vt:lpstr>Problem statement:</vt:lpstr>
      <vt:lpstr>Literature survey :</vt:lpstr>
      <vt:lpstr>PowerPoint Presentation</vt:lpstr>
      <vt:lpstr>PowerPoint Presentation</vt:lpstr>
      <vt:lpstr>Existing design </vt:lpstr>
      <vt:lpstr>Existing design-limitations </vt:lpstr>
      <vt:lpstr>Proposed design </vt:lpstr>
      <vt:lpstr>Innovation in proposed design  </vt:lpstr>
      <vt:lpstr>Methodology </vt:lpstr>
      <vt:lpstr>Objectives:</vt:lpstr>
      <vt:lpstr>Block diagram</vt:lpstr>
      <vt:lpstr>Flow chart</vt:lpstr>
      <vt:lpstr>Design - implementation &amp; technical innovations:</vt:lpstr>
      <vt:lpstr>Objective-1:Results and Outcomes</vt:lpstr>
      <vt:lpstr>Objective-2: Results and Outcomes:</vt:lpstr>
      <vt:lpstr>Objective-3: Results and Outcomes:</vt:lpstr>
      <vt:lpstr>Comparative analysis</vt:lpstr>
      <vt:lpstr>Conclusion-future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</dc:title>
  <dc:creator>user</dc:creator>
  <cp:lastModifiedBy>manasarani16@gmail.com</cp:lastModifiedBy>
  <cp:revision>31</cp:revision>
  <dcterms:created xsi:type="dcterms:W3CDTF">2025-03-27T16:47:24Z</dcterms:created>
  <dcterms:modified xsi:type="dcterms:W3CDTF">2026-07-07T17:02:34Z</dcterms:modified>
</cp:coreProperties>
</file>